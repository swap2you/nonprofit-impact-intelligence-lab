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B7CF7"/>
                </a:solidFill>
                <a:latin typeface="Calibri"/>
              </a:defRPr>
            </a:pPr>
            <a:r>
              <a:t>SYNTHETIC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E7EEF8"/>
                </a:solidFill>
                <a:latin typeface="Calibri"/>
              </a:defRPr>
            </a:pPr>
            <a:r>
              <a:t>Nonprofit Impact</a:t>
            </a:r>
            <a:br/>
            <a:r>
              <a:t>Intelligence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0624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9AABC0"/>
                </a:solidFill>
                <a:latin typeface="Calibri"/>
              </a:defRPr>
            </a:pPr>
            <a:r>
              <a:t>Quality, funding lookup, migration readiness,</a:t>
            </a:r>
            <a:br/>
            <a:r>
              <a:t>and bounded analytics on one local dataset.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AABC0"/>
                </a:solidFill>
                <a:latin typeface="Calibri"/>
              </a:defRPr>
            </a:pPr>
            <a:r>
              <a:t>Synthetic demonstration  ·  not affiliated with buildOn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AABC0"/>
                </a:solidFill>
                <a:latin typeface="Calibri"/>
              </a:defRPr>
            </a:pPr>
            <a:r>
              <a:t>1  / 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7EEF8"/>
                </a:solidFill>
                <a:latin typeface="Calibri"/>
              </a:defRPr>
            </a:pPr>
            <a:r>
              <a:t>Why impact data gets hard to trust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5394960" cy="1920240"/>
          </a:xfrm>
          <a:prstGeom prst="rect">
            <a:avLst/>
          </a:prstGeom>
          <a:solidFill>
            <a:srgbClr val="1B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B7CF7"/>
                </a:solidFill>
                <a:latin typeface="Calibri"/>
              </a:defRPr>
            </a:pPr>
            <a:r>
              <a:t>Late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7EEF8"/>
                </a:solidFill>
                <a:latin typeface="Calibri"/>
              </a:defRPr>
            </a:pPr>
            <a:r>
              <a:t>Submissions arrive after the cutoff or sit stale.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59" y="1463040"/>
            <a:ext cx="5394960" cy="1920240"/>
          </a:xfrm>
          <a:prstGeom prst="rect">
            <a:avLst/>
          </a:prstGeom>
          <a:solidFill>
            <a:srgbClr val="1B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79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B7CF7"/>
                </a:solidFill>
                <a:latin typeface="Calibri"/>
              </a:defRPr>
            </a:pPr>
            <a:r>
              <a:t>Broken links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79" y="23774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7EEF8"/>
                </a:solidFill>
                <a:latin typeface="Calibri"/>
              </a:defRPr>
            </a:pPr>
            <a:r>
              <a:t>A funding row can point at a site that does not exist.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57600"/>
            <a:ext cx="5394960" cy="1920240"/>
          </a:xfrm>
          <a:prstGeom prst="rect">
            <a:avLst/>
          </a:prstGeom>
          <a:solidFill>
            <a:srgbClr val="1B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77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B7CF7"/>
                </a:solidFill>
                <a:latin typeface="Calibri"/>
              </a:defRPr>
            </a:pPr>
            <a:r>
              <a:t>Unclear movement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7EEF8"/>
                </a:solidFill>
                <a:latin typeface="Calibri"/>
              </a:defRPr>
            </a:pPr>
            <a:r>
              <a:t>A spike can be operations or a data defect.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3657600"/>
            <a:ext cx="5394960" cy="1920240"/>
          </a:xfrm>
          <a:prstGeom prst="rect">
            <a:avLst/>
          </a:prstGeom>
          <a:solidFill>
            <a:srgbClr val="1B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79" y="3977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B7CF7"/>
                </a:solidFill>
                <a:latin typeface="Calibri"/>
              </a:defRPr>
            </a:pPr>
            <a:r>
              <a:t>Migration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79" y="45720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7EEF8"/>
                </a:solidFill>
                <a:latin typeface="Calibri"/>
              </a:defRPr>
            </a:pPr>
            <a:r>
              <a:t>Source and target keys disagree more often than a slide admits.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AABC0"/>
                </a:solidFill>
                <a:latin typeface="Calibri"/>
              </a:defRPr>
            </a:pPr>
            <a:r>
              <a:t>Synthetic demonstration  ·  not affiliated with buildOn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AABC0"/>
                </a:solidFill>
                <a:latin typeface="Calibri"/>
              </a:defRPr>
            </a:pPr>
            <a:r>
              <a:t>2  / 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7EEF8"/>
                </a:solidFill>
                <a:latin typeface="Calibri"/>
              </a:defRPr>
            </a:pPr>
            <a:r>
              <a:t>What this lab demonstrates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10972800" cy="640080"/>
          </a:xfrm>
          <a:prstGeom prst="rect">
            <a:avLst/>
          </a:prstGeom>
          <a:solidFill>
            <a:srgbClr val="1B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8988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7EEF8"/>
                </a:solidFill>
                <a:latin typeface="Calibri"/>
              </a:defRPr>
            </a:pPr>
            <a:r>
              <a:t>Deterministic synthetic data, seed 20260923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57400"/>
            <a:ext cx="10972800" cy="640080"/>
          </a:xfrm>
          <a:prstGeom prst="rect">
            <a:avLst/>
          </a:prstGeom>
          <a:solidFill>
            <a:srgbClr val="1B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671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7EEF8"/>
                </a:solidFill>
                <a:latin typeface="Calibri"/>
              </a:defRPr>
            </a:pPr>
            <a:r>
              <a:t>PostgreSQL 16 and a SQLite fallback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34639"/>
            <a:ext cx="10972800" cy="640080"/>
          </a:xfrm>
          <a:prstGeom prst="rect">
            <a:avLst/>
          </a:prstGeom>
          <a:solidFill>
            <a:srgbClr val="1B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44367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7EEF8"/>
                </a:solidFill>
                <a:latin typeface="Calibri"/>
              </a:defRPr>
            </a:pPr>
            <a:r>
              <a:t>Seven quality dimensions with a visible issue ledger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11879"/>
            <a:ext cx="10972800" cy="640080"/>
          </a:xfrm>
          <a:prstGeom prst="rect">
            <a:avLst/>
          </a:prstGeom>
          <a:solidFill>
            <a:srgbClr val="1B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21607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7EEF8"/>
                </a:solidFill>
                <a:latin typeface="Calibri"/>
              </a:defRPr>
            </a:pPr>
            <a:r>
              <a:t>FastAPI plus seven Streamlit pages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389120"/>
            <a:ext cx="10972800" cy="640080"/>
          </a:xfrm>
          <a:prstGeom prst="rect">
            <a:avLst/>
          </a:prstGeom>
          <a:solidFill>
            <a:srgbClr val="1B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988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7EEF8"/>
                </a:solidFill>
                <a:latin typeface="Calibri"/>
              </a:defRPr>
            </a:pPr>
            <a:r>
              <a:t>CSV, XLSX, and PDF preset exports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166360"/>
            <a:ext cx="10972800" cy="640080"/>
          </a:xfrm>
          <a:prstGeom prst="rect">
            <a:avLst/>
          </a:prstGeom>
          <a:solidFill>
            <a:srgbClr val="1B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27608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7EEF8"/>
                </a:solidFill>
                <a:latin typeface="Calibri"/>
              </a:defRPr>
            </a:pPr>
            <a:r>
              <a:t>One-command Windows start and GitHub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AABC0"/>
                </a:solidFill>
                <a:latin typeface="Calibri"/>
              </a:defRPr>
            </a:pPr>
            <a:r>
              <a:t>Synthetic demonstration  ·  not affiliated with buildOn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AABC0"/>
                </a:solidFill>
                <a:latin typeface="Calibri"/>
              </a:defRPr>
            </a:pPr>
            <a:r>
              <a:t>3  / 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7EEF8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2377440"/>
            <a:ext cx="2103120" cy="1645920"/>
          </a:xfrm>
          <a:prstGeom prst="rect">
            <a:avLst/>
          </a:prstGeom>
          <a:solidFill>
            <a:srgbClr val="1B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7889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7EEF8"/>
                </a:solidFill>
                <a:latin typeface="Calibri"/>
              </a:defRPr>
            </a:pPr>
            <a:r>
              <a:t>Generator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2834639" y="2377440"/>
            <a:ext cx="2103120" cy="1645920"/>
          </a:xfrm>
          <a:prstGeom prst="rect">
            <a:avLst/>
          </a:prstGeom>
          <a:solidFill>
            <a:srgbClr val="1B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79" y="27889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7EEF8"/>
                </a:solidFill>
                <a:latin typeface="Calibri"/>
              </a:defRPr>
            </a:pPr>
            <a:r>
              <a:t>PostgreSQL</a:t>
            </a:r>
            <a:br/>
            <a:r>
              <a:t>or SQLite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166359" y="2377440"/>
            <a:ext cx="2103120" cy="1645920"/>
          </a:xfrm>
          <a:prstGeom prst="rect">
            <a:avLst/>
          </a:prstGeom>
          <a:solidFill>
            <a:srgbClr val="1B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57799" y="27889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7EEF8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2377440"/>
            <a:ext cx="2103120" cy="1645920"/>
          </a:xfrm>
          <a:prstGeom prst="rect">
            <a:avLst/>
          </a:prstGeom>
          <a:solidFill>
            <a:srgbClr val="1B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19" y="27889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7EEF8"/>
                </a:solidFill>
                <a:latin typeface="Calibri"/>
              </a:defRPr>
            </a:pPr>
            <a:r>
              <a:t>Streamlit</a:t>
            </a:r>
            <a:br/>
            <a:r>
              <a:t>7 pages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29800" y="2377440"/>
            <a:ext cx="2103120" cy="1645920"/>
          </a:xfrm>
          <a:prstGeom prst="rect">
            <a:avLst/>
          </a:prstGeom>
          <a:solidFill>
            <a:srgbClr val="1B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21240" y="27889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7EEF8"/>
                </a:solidFill>
                <a:latin typeface="Calibri"/>
              </a:defRPr>
            </a:pPr>
            <a:r>
              <a:t>Exports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54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9AABC0"/>
                </a:solidFill>
                <a:latin typeface="Calibri"/>
              </a:defRPr>
            </a:pPr>
            <a:r>
              <a:t>Both the API and the dashboard read DATABASE_URL. There is no arbitrary SQL endpoint.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AABC0"/>
                </a:solidFill>
                <a:latin typeface="Calibri"/>
              </a:defRPr>
            </a:pPr>
            <a:r>
              <a:t>Synthetic demonstration  ·  not affiliated with buildOn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AABC0"/>
                </a:solidFill>
                <a:latin typeface="Calibri"/>
              </a:defRPr>
            </a:pPr>
            <a:r>
              <a:t>4  / 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7EEF8"/>
                </a:solidFill>
                <a:latin typeface="Calibri"/>
              </a:defRPr>
            </a:pPr>
            <a:r>
              <a:t>Synthetic scale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554480"/>
            <a:ext cx="3566160" cy="1920240"/>
          </a:xfrm>
          <a:prstGeom prst="rect">
            <a:avLst/>
          </a:prstGeom>
          <a:solidFill>
            <a:srgbClr val="1B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B7CF7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97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7EEF8"/>
                </a:solidFill>
                <a:latin typeface="Calibri"/>
              </a:defRPr>
            </a:pPr>
            <a:r>
              <a:t>countries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554480"/>
            <a:ext cx="3566160" cy="1920240"/>
          </a:xfrm>
          <a:prstGeom prst="rect">
            <a:avLst/>
          </a:prstGeom>
          <a:solidFill>
            <a:srgbClr val="1B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8288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B7CF7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2697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7EEF8"/>
                </a:solidFill>
                <a:latin typeface="Calibri"/>
              </a:defRPr>
            </a:pPr>
            <a:r>
              <a:t>programs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554480"/>
            <a:ext cx="3566160" cy="1920240"/>
          </a:xfrm>
          <a:prstGeom prst="rect">
            <a:avLst/>
          </a:prstGeom>
          <a:solidFill>
            <a:srgbClr val="1B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8288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B7CF7"/>
                </a:solidFill>
                <a:latin typeface="Calibri"/>
              </a:defRPr>
            </a:pPr>
            <a:r>
              <a:t>240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697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7EEF8"/>
                </a:solidFill>
                <a:latin typeface="Calibri"/>
              </a:defRPr>
            </a:pPr>
            <a:r>
              <a:t>sites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49039"/>
            <a:ext cx="3566160" cy="1920240"/>
          </a:xfrm>
          <a:prstGeom prst="rect">
            <a:avLst/>
          </a:prstGeom>
          <a:solidFill>
            <a:srgbClr val="1B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023359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B7CF7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89203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7EEF8"/>
                </a:solidFill>
                <a:latin typeface="Calibri"/>
              </a:defRPr>
            </a:pPr>
            <a:r>
              <a:t>months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3749039"/>
            <a:ext cx="3566160" cy="1920240"/>
          </a:xfrm>
          <a:prstGeom prst="rect">
            <a:avLst/>
          </a:prstGeom>
          <a:solidFill>
            <a:srgbClr val="1B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4023359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B7CF7"/>
                </a:solidFill>
                <a:latin typeface="Calibri"/>
              </a:defRPr>
            </a:pPr>
            <a:r>
              <a:t>5,760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89203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7EEF8"/>
                </a:solidFill>
                <a:latin typeface="Calibri"/>
              </a:defRPr>
            </a:pPr>
            <a:r>
              <a:t>enrollment rows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3749039"/>
            <a:ext cx="3566160" cy="1920240"/>
          </a:xfrm>
          <a:prstGeom prst="rect">
            <a:avLst/>
          </a:prstGeom>
          <a:solidFill>
            <a:srgbClr val="1B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4023359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B7CF7"/>
                </a:solidFill>
                <a:latin typeface="Calibri"/>
              </a:defRPr>
            </a:pPr>
            <a:r>
              <a:t>23,745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489203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7EEF8"/>
                </a:solidFill>
                <a:latin typeface="Calibri"/>
              </a:defRPr>
            </a:pPr>
            <a:r>
              <a:t>fact rows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AABC0"/>
                </a:solidFill>
                <a:latin typeface="Calibri"/>
              </a:defRPr>
            </a:pPr>
            <a:r>
              <a:t>Synthetic demonstration  ·  not affiliated with buildOn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AABC0"/>
                </a:solidFill>
                <a:latin typeface="Calibri"/>
              </a:defRPr>
            </a:pPr>
            <a:r>
              <a:t>5  / 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7EEF8"/>
                </a:solidFill>
                <a:latin typeface="Calibri"/>
              </a:defRPr>
            </a:pPr>
            <a:r>
              <a:t>Executive Impact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AABC0"/>
                </a:solidFill>
                <a:latin typeface="Calibri"/>
              </a:defRPr>
            </a:pPr>
            <a:r>
              <a:t>Scale, freshness, quality score, and a rolling enrollment view.</a:t>
            </a:r>
          </a:p>
        </p:txBody>
      </p:sp>
      <p:pic>
        <p:nvPicPr>
          <p:cNvPr id="4" name="Picture 3" descr="01-executive-impact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7534656" cy="4709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AABC0"/>
                </a:solidFill>
                <a:latin typeface="Calibri"/>
              </a:defRPr>
            </a:pPr>
            <a:r>
              <a:t>Synthetic demonstration  ·  not affiliated with buildOn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AABC0"/>
                </a:solidFill>
                <a:latin typeface="Calibri"/>
              </a:defRPr>
            </a:pPr>
            <a:r>
              <a:t>6  / 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7EEF8"/>
                </a:solidFill>
                <a:latin typeface="Calibri"/>
              </a:defRPr>
            </a:pPr>
            <a:r>
              <a:t>Data Quality Command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AABC0"/>
                </a:solidFill>
                <a:latin typeface="Calibri"/>
              </a:defRPr>
            </a:pPr>
            <a:r>
              <a:t>High, medium, and low are labeled in words. Record 97 is an orphan site reference.</a:t>
            </a:r>
          </a:p>
        </p:txBody>
      </p:sp>
      <p:pic>
        <p:nvPicPr>
          <p:cNvPr id="4" name="Picture 3" descr="02-data-quality-command-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7534656" cy="4709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AABC0"/>
                </a:solidFill>
                <a:latin typeface="Calibri"/>
              </a:defRPr>
            </a:pPr>
            <a:r>
              <a:t>Synthetic demonstration  ·  not affiliated with buildOn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AABC0"/>
                </a:solidFill>
                <a:latin typeface="Calibri"/>
              </a:defRPr>
            </a:pPr>
            <a:r>
              <a:t>7  / 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7EEF8"/>
                </a:solidFill>
                <a:latin typeface="Calibri"/>
              </a:defRPr>
            </a:pPr>
            <a:r>
              <a:t>Donor / Funding Lookup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AABC0"/>
                </a:solidFill>
                <a:latin typeface="Calibri"/>
              </a:defRPr>
            </a:pPr>
            <a:r>
              <a:t>A filtered briefing. Diagnostic demo, not a donor-ready certification.</a:t>
            </a:r>
          </a:p>
        </p:txBody>
      </p:sp>
      <p:pic>
        <p:nvPicPr>
          <p:cNvPr id="4" name="Picture 3" descr="03-donor-funding-loo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7534656" cy="4709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AABC0"/>
                </a:solidFill>
                <a:latin typeface="Calibri"/>
              </a:defRPr>
            </a:pPr>
            <a:r>
              <a:t>Synthetic demonstration  ·  not affiliated with buildOn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AABC0"/>
                </a:solidFill>
                <a:latin typeface="Calibri"/>
              </a:defRPr>
            </a:pPr>
            <a:r>
              <a:t>8  / 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7EEF8"/>
                </a:solidFill>
                <a:latin typeface="Calibri"/>
              </a:defRPr>
            </a:pPr>
            <a:r>
              <a:t>Analytics and early warning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AABC0"/>
                </a:solidFill>
                <a:latin typeface="Calibri"/>
              </a:defRPr>
            </a:pPr>
            <a:r>
              <a:t>Trend, IQR markers, and a one-period band. Not a causal claim.</a:t>
            </a:r>
          </a:p>
        </p:txBody>
      </p:sp>
      <p:pic>
        <p:nvPicPr>
          <p:cNvPr id="4" name="Picture 3" descr="06-analytics-early-w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7534656" cy="4709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AABC0"/>
                </a:solidFill>
                <a:latin typeface="Calibri"/>
              </a:defRPr>
            </a:pPr>
            <a:r>
              <a:t>Synthetic demonstration  ·  not affiliated with buildOn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AABC0"/>
                </a:solidFill>
                <a:latin typeface="Calibri"/>
              </a:defRPr>
            </a:pPr>
            <a:r>
              <a:t>9  / 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7EEF8"/>
                </a:solidFill>
                <a:latin typeface="Calibri"/>
              </a:defRPr>
            </a:pPr>
            <a:r>
              <a:t>Migration and reconciliation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AABC0"/>
                </a:solidFill>
                <a:latin typeface="Calibri"/>
              </a:defRPr>
            </a:pPr>
            <a:r>
              <a:t>Readiness is about 10.8% because unresolved keys are planted.</a:t>
            </a:r>
          </a:p>
        </p:txBody>
      </p:sp>
      <p:pic>
        <p:nvPicPr>
          <p:cNvPr id="4" name="Picture 3" descr="05-migration-reconcil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7534656" cy="4709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AABC0"/>
                </a:solidFill>
                <a:latin typeface="Calibri"/>
              </a:defRPr>
            </a:pPr>
            <a:r>
              <a:t>Synthetic demonstration  ·  not affiliated with buildOn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AABC0"/>
                </a:solidFill>
                <a:latin typeface="Calibri"/>
              </a:defRPr>
            </a:pPr>
            <a:r>
              <a:t>10  / 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7EEF8"/>
                </a:solidFill>
                <a:latin typeface="Calibri"/>
              </a:defRPr>
            </a:pPr>
            <a:r>
              <a:t>Run it, then prove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0972800" cy="1463040"/>
          </a:xfrm>
          <a:prstGeom prst="rect">
            <a:avLst/>
          </a:prstGeom>
          <a:solidFill>
            <a:srgbClr val="1B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8B7CF7"/>
                </a:solidFill>
                <a:latin typeface="Calibri"/>
              </a:defRPr>
            </a:pPr>
            <a:r>
              <a:t>.\scripts\windows\Start-ImpactLab.ps1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7EEF8"/>
                </a:solidFill>
                <a:latin typeface="Calibri"/>
              </a:defRPr>
            </a:pPr>
            <a:r>
              <a:t>Dashboard 127.0.0.1:8501    API docs 127.0.0.1:8000/docs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7EEF8"/>
                </a:solidFill>
                <a:latin typeface="Calibri"/>
              </a:defRPr>
            </a:pPr>
            <a:r>
              <a:t>CI runs the same pytest suite on SQLite and on PostgreSQL 16.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AABC0"/>
                </a:solidFill>
                <a:latin typeface="Calibri"/>
              </a:defRPr>
            </a:pPr>
            <a:r>
              <a:t>Synthetic demonstration  ·  not affiliated with buildOn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AABC0"/>
                </a:solidFill>
                <a:latin typeface="Calibri"/>
              </a:defRPr>
            </a:pPr>
            <a:r>
              <a:t>11  / 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7EEF8"/>
                </a:solidFill>
                <a:latin typeface="Calibri"/>
              </a:defRPr>
            </a:pPr>
            <a:r>
              <a:t>Limits and a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E7EEF8"/>
                </a:solidFill>
                <a:latin typeface="Calibri"/>
              </a:defRPr>
            </a:pPr>
            <a:r>
              <a:t>Synthetic only. No real donors, sites, or participants.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E7EEF8"/>
                </a:solidFill>
                <a:latin typeface="Calibri"/>
              </a:defRPr>
            </a:pPr>
            <a:r>
              <a:t>Forecasts are illustrative ranges, not commitments.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E7EEF8"/>
                </a:solidFill>
                <a:latin typeface="Calibri"/>
              </a:defRPr>
            </a:pPr>
            <a:r>
              <a:t>Low migration readiness is an intentional scenario.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E7EEF8"/>
                </a:solidFill>
                <a:latin typeface="Calibri"/>
              </a:defRPr>
            </a:pPr>
            <a:r>
              <a:t>No production authentication or notification channels.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9AABC0"/>
                </a:solidFill>
                <a:latin typeface="Calibri"/>
              </a:defRPr>
            </a:pPr>
            <a:r>
              <a:t>Extension path: configurable rules, authenticated database access, optional alerts.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AABC0"/>
                </a:solidFill>
                <a:latin typeface="Calibri"/>
              </a:defRPr>
            </a:pPr>
            <a:r>
              <a:t>Synthetic demonstration  ·  not affiliated with buildOn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AABC0"/>
                </a:solidFill>
                <a:latin typeface="Calibri"/>
              </a:defRPr>
            </a:pPr>
            <a:r>
              <a:t>12  /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Nonprofit Impact Intelligence Lab</dc:title>
  <dc:subject>Synthetic executive demonstration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